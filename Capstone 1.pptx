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10A26"/>
    <a:srgbClr val="000D29"/>
    <a:srgbClr val="06C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59" autoAdjust="0"/>
    <p:restoredTop sz="94660"/>
  </p:normalViewPr>
  <p:slideViewPr>
    <p:cSldViewPr snapToGrid="0">
      <p:cViewPr varScale="1">
        <p:scale>
          <a:sx n="67" d="100"/>
          <a:sy n="67" d="100"/>
        </p:scale>
        <p:origin x="3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revon.Encalade\Desktop\Thinkful\Capstone%20Project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[Capstone Project 1.xlsx]Profits by Make&amp;Model!PivotTable7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Top 10 Vehicles by Manufacturer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'Profits by Make&amp;Model'!$B$4</c:f>
              <c:strCache>
                <c:ptCount val="1"/>
                <c:pt idx="0">
                  <c:v>Total 2018 Revenue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'Profits by Make&amp;Model'!$A$5:$A$15</c:f>
              <c:strCache>
                <c:ptCount val="10"/>
                <c:pt idx="0">
                  <c:v>BMW</c:v>
                </c:pt>
                <c:pt idx="1">
                  <c:v>Chevrolet</c:v>
                </c:pt>
                <c:pt idx="2">
                  <c:v>Dodge</c:v>
                </c:pt>
                <c:pt idx="3">
                  <c:v>Ford</c:v>
                </c:pt>
                <c:pt idx="4">
                  <c:v>GMC</c:v>
                </c:pt>
                <c:pt idx="5">
                  <c:v>Mercedes-Benz</c:v>
                </c:pt>
                <c:pt idx="6">
                  <c:v>Mitsubishi</c:v>
                </c:pt>
                <c:pt idx="7">
                  <c:v>Pontiac</c:v>
                </c:pt>
                <c:pt idx="8">
                  <c:v>Toyota</c:v>
                </c:pt>
                <c:pt idx="9">
                  <c:v>Volkswagen</c:v>
                </c:pt>
              </c:strCache>
            </c:strRef>
          </c:cat>
          <c:val>
            <c:numRef>
              <c:f>'Profits by Make&amp;Model'!$B$5:$B$15</c:f>
              <c:numCache>
                <c:formatCode>"$"#,##0.00</c:formatCode>
                <c:ptCount val="10"/>
                <c:pt idx="0">
                  <c:v>1700431</c:v>
                </c:pt>
                <c:pt idx="1">
                  <c:v>3885985</c:v>
                </c:pt>
                <c:pt idx="2">
                  <c:v>2499349</c:v>
                </c:pt>
                <c:pt idx="3">
                  <c:v>4168402</c:v>
                </c:pt>
                <c:pt idx="4">
                  <c:v>2453912</c:v>
                </c:pt>
                <c:pt idx="5">
                  <c:v>1722808</c:v>
                </c:pt>
                <c:pt idx="6">
                  <c:v>1812347</c:v>
                </c:pt>
                <c:pt idx="7">
                  <c:v>1603487</c:v>
                </c:pt>
                <c:pt idx="8">
                  <c:v>2374067</c:v>
                </c:pt>
                <c:pt idx="9">
                  <c:v>1545426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4C-408B-B548-4C624D881324}"/>
            </c:ext>
          </c:extLst>
        </c:ser>
        <c:ser>
          <c:idx val="1"/>
          <c:order val="1"/>
          <c:tx>
            <c:strRef>
              <c:f>'Profits by Make&amp;Model'!$C$4</c:f>
              <c:strCache>
                <c:ptCount val="1"/>
                <c:pt idx="0">
                  <c:v>Total Annual Costs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'Profits by Make&amp;Model'!$A$5:$A$15</c:f>
              <c:strCache>
                <c:ptCount val="10"/>
                <c:pt idx="0">
                  <c:v>BMW</c:v>
                </c:pt>
                <c:pt idx="1">
                  <c:v>Chevrolet</c:v>
                </c:pt>
                <c:pt idx="2">
                  <c:v>Dodge</c:v>
                </c:pt>
                <c:pt idx="3">
                  <c:v>Ford</c:v>
                </c:pt>
                <c:pt idx="4">
                  <c:v>GMC</c:v>
                </c:pt>
                <c:pt idx="5">
                  <c:v>Mercedes-Benz</c:v>
                </c:pt>
                <c:pt idx="6">
                  <c:v>Mitsubishi</c:v>
                </c:pt>
                <c:pt idx="7">
                  <c:v>Pontiac</c:v>
                </c:pt>
                <c:pt idx="8">
                  <c:v>Toyota</c:v>
                </c:pt>
                <c:pt idx="9">
                  <c:v>Volkswagen</c:v>
                </c:pt>
              </c:strCache>
            </c:strRef>
          </c:cat>
          <c:val>
            <c:numRef>
              <c:f>'Profits by Make&amp;Model'!$C$5:$C$15</c:f>
              <c:numCache>
                <c:formatCode>"$"#,##0.00</c:formatCode>
                <c:ptCount val="10"/>
                <c:pt idx="0">
                  <c:v>877954.91999999993</c:v>
                </c:pt>
                <c:pt idx="1">
                  <c:v>1993207.1999999995</c:v>
                </c:pt>
                <c:pt idx="2">
                  <c:v>1264862.8800000001</c:v>
                </c:pt>
                <c:pt idx="3">
                  <c:v>2106726.0000000005</c:v>
                </c:pt>
                <c:pt idx="4">
                  <c:v>1262045.76</c:v>
                </c:pt>
                <c:pt idx="5">
                  <c:v>892819.91999999993</c:v>
                </c:pt>
                <c:pt idx="6">
                  <c:v>956125.79999999981</c:v>
                </c:pt>
                <c:pt idx="7">
                  <c:v>838539.72000000009</c:v>
                </c:pt>
                <c:pt idx="8">
                  <c:v>1214649.7200000002</c:v>
                </c:pt>
                <c:pt idx="9">
                  <c:v>807597.48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4C-408B-B548-4C624D881324}"/>
            </c:ext>
          </c:extLst>
        </c:ser>
        <c:ser>
          <c:idx val="2"/>
          <c:order val="2"/>
          <c:tx>
            <c:strRef>
              <c:f>'Profits by Make&amp;Model'!$D$4</c:f>
              <c:strCache>
                <c:ptCount val="1"/>
                <c:pt idx="0">
                  <c:v>Total Profits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'Profits by Make&amp;Model'!$A$5:$A$15</c:f>
              <c:strCache>
                <c:ptCount val="10"/>
                <c:pt idx="0">
                  <c:v>BMW</c:v>
                </c:pt>
                <c:pt idx="1">
                  <c:v>Chevrolet</c:v>
                </c:pt>
                <c:pt idx="2">
                  <c:v>Dodge</c:v>
                </c:pt>
                <c:pt idx="3">
                  <c:v>Ford</c:v>
                </c:pt>
                <c:pt idx="4">
                  <c:v>GMC</c:v>
                </c:pt>
                <c:pt idx="5">
                  <c:v>Mercedes-Benz</c:v>
                </c:pt>
                <c:pt idx="6">
                  <c:v>Mitsubishi</c:v>
                </c:pt>
                <c:pt idx="7">
                  <c:v>Pontiac</c:v>
                </c:pt>
                <c:pt idx="8">
                  <c:v>Toyota</c:v>
                </c:pt>
                <c:pt idx="9">
                  <c:v>Volkswagen</c:v>
                </c:pt>
              </c:strCache>
            </c:strRef>
          </c:cat>
          <c:val>
            <c:numRef>
              <c:f>'Profits by Make&amp;Model'!$D$5:$D$15</c:f>
              <c:numCache>
                <c:formatCode>"$"#,##0.00</c:formatCode>
                <c:ptCount val="10"/>
                <c:pt idx="0">
                  <c:v>822476.08000000007</c:v>
                </c:pt>
                <c:pt idx="1">
                  <c:v>1892777.8000000005</c:v>
                </c:pt>
                <c:pt idx="2">
                  <c:v>1234486.1199999996</c:v>
                </c:pt>
                <c:pt idx="3">
                  <c:v>2061675.9999999998</c:v>
                </c:pt>
                <c:pt idx="4">
                  <c:v>1191866.24</c:v>
                </c:pt>
                <c:pt idx="5">
                  <c:v>829988.08</c:v>
                </c:pt>
                <c:pt idx="6">
                  <c:v>856221.20000000019</c:v>
                </c:pt>
                <c:pt idx="7">
                  <c:v>764947.27999999991</c:v>
                </c:pt>
                <c:pt idx="8">
                  <c:v>1159417.2799999998</c:v>
                </c:pt>
                <c:pt idx="9">
                  <c:v>737828.52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4C-408B-B548-4C624D8813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735199"/>
        <c:axId val="1727302735"/>
      </c:barChart>
      <c:catAx>
        <c:axId val="15735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7302735"/>
        <c:crosses val="autoZero"/>
        <c:auto val="1"/>
        <c:lblAlgn val="ctr"/>
        <c:lblOffset val="100"/>
        <c:noMultiLvlLbl val="0"/>
      </c:catAx>
      <c:valAx>
        <c:axId val="1727302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51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2018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Nubira</c:v>
                </c:pt>
                <c:pt idx="1">
                  <c:v>5000CS</c:v>
                </c:pt>
                <c:pt idx="2">
                  <c:v>Relay</c:v>
                </c:pt>
                <c:pt idx="3">
                  <c:v>Volare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>
                  <c:v>7530</c:v>
                </c:pt>
                <c:pt idx="1">
                  <c:v>8331</c:v>
                </c:pt>
                <c:pt idx="2">
                  <c:v>8381</c:v>
                </c:pt>
                <c:pt idx="3">
                  <c:v>8568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60-4097-85B7-4640186457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2018 Costs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Nubira</c:v>
                </c:pt>
                <c:pt idx="1">
                  <c:v>5000CS</c:v>
                </c:pt>
                <c:pt idx="2">
                  <c:v>Relay</c:v>
                </c:pt>
                <c:pt idx="3">
                  <c:v>Volare</c:v>
                </c:pt>
              </c:strCache>
            </c:strRef>
          </c:cat>
          <c:val>
            <c:numRef>
              <c:f>Sheet1!$C$2:$C$5</c:f>
              <c:numCache>
                <c:formatCode>"$"#,##0.00_);[Red]\("$"#,##0.00\)</c:formatCode>
                <c:ptCount val="4"/>
                <c:pt idx="0">
                  <c:v>10027.92</c:v>
                </c:pt>
                <c:pt idx="1">
                  <c:v>10012.799999999999</c:v>
                </c:pt>
                <c:pt idx="2">
                  <c:v>9677.76</c:v>
                </c:pt>
                <c:pt idx="3">
                  <c:v>8728.32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60-4097-85B7-4640186457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2018 Profits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Nubira</c:v>
                </c:pt>
                <c:pt idx="1">
                  <c:v>5000CS</c:v>
                </c:pt>
                <c:pt idx="2">
                  <c:v>Relay</c:v>
                </c:pt>
                <c:pt idx="3">
                  <c:v>Volare</c:v>
                </c:pt>
              </c:strCache>
            </c:strRef>
          </c:cat>
          <c:val>
            <c:numRef>
              <c:f>Sheet1!$D$2:$D$5</c:f>
              <c:numCache>
                <c:formatCode>"$"#,##0.00_);[Red]\("$"#,##0.00\)</c:formatCode>
                <c:ptCount val="4"/>
                <c:pt idx="0">
                  <c:v>-2497.92</c:v>
                </c:pt>
                <c:pt idx="1">
                  <c:v>-1681.7999999999993</c:v>
                </c:pt>
                <c:pt idx="2">
                  <c:v>-1296.7600000000002</c:v>
                </c:pt>
                <c:pt idx="3">
                  <c:v>-160.31999999999971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60-4097-85B7-464018645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625668287"/>
        <c:axId val="1555245135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Days Rented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Nubira</c:v>
                </c:pt>
                <c:pt idx="1">
                  <c:v>5000CS</c:v>
                </c:pt>
                <c:pt idx="2">
                  <c:v>Relay</c:v>
                </c:pt>
                <c:pt idx="3">
                  <c:v>Volare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51</c:v>
                </c:pt>
                <c:pt idx="1">
                  <c:v>51</c:v>
                </c:pt>
                <c:pt idx="2">
                  <c:v>42</c:v>
                </c:pt>
                <c:pt idx="3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560-4097-85B7-464018645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1835887"/>
        <c:axId val="1555246383"/>
      </c:lineChart>
      <c:catAx>
        <c:axId val="16256682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sng" strike="noStrike" kern="1200" cap="all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Georgia Pro Cond Black" panose="020B0604020202020204" pitchFamily="18" charset="0"/>
                <a:ea typeface="+mn-ea"/>
                <a:cs typeface="+mn-cs"/>
              </a:defRPr>
            </a:pPr>
            <a:endParaRPr lang="en-US"/>
          </a:p>
        </c:txPr>
        <c:crossAx val="1555245135"/>
        <c:crosses val="autoZero"/>
        <c:auto val="1"/>
        <c:lblAlgn val="ctr"/>
        <c:lblOffset val="100"/>
        <c:noMultiLvlLbl val="0"/>
      </c:catAx>
      <c:valAx>
        <c:axId val="1555245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5668287"/>
        <c:crosses val="autoZero"/>
        <c:crossBetween val="between"/>
      </c:valAx>
      <c:valAx>
        <c:axId val="15552463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Days rented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835887"/>
        <c:crosses val="max"/>
        <c:crossBetween val="between"/>
      </c:valAx>
      <c:catAx>
        <c:axId val="1631835887"/>
        <c:scaling>
          <c:orientation val="minMax"/>
        </c:scaling>
        <c:delete val="1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55246383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2018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1"/>
                <c:pt idx="0">
                  <c:v>Grand Prix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 formatCode="&quot;$&quot;#,##0.00_);[Red]\(&quot;$&quot;#,##0.00\)">
                  <c:v>388691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3B-4EF3-915D-7041513DD0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2018 Costs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1"/>
                <c:pt idx="0">
                  <c:v>Grand Prix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 formatCode="&quot;$&quot;#,##0.00_);[Red]\(&quot;$&quot;#,##0.00\)">
                  <c:v>184214.87999999998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3B-4EF3-915D-7041513DD0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2018 Profits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Sheet1!$A$2:$A$5</c:f>
              <c:strCache>
                <c:ptCount val="1"/>
                <c:pt idx="0">
                  <c:v>Grand Prix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 formatCode="&quot;$&quot;#,##0.00_);[Red]\(&quot;$&quot;#,##0.00\)">
                  <c:v>204476.12000000002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73B-4EF3-915D-7041513DD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977321055"/>
        <c:axId val="1792717823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Average Price Per Diem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Sheet1!$A$2:$A$5</c:f>
              <c:strCache>
                <c:ptCount val="1"/>
                <c:pt idx="0">
                  <c:v>Grand Prix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 formatCode="&quot;$&quot;#,##0.00_);[Red]\(&quot;$&quot;#,##0.00\)">
                  <c:v>159.77000000000001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73B-4EF3-915D-7041513DD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7321055"/>
        <c:axId val="1792717823"/>
      </c:lineChart>
      <c:scatterChart>
        <c:scatterStyle val="lineMarker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Days Rented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4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xVal>
            <c:strRef>
              <c:f>Sheet1!$A$2:$A$5</c:f>
              <c:strCache>
                <c:ptCount val="1"/>
                <c:pt idx="0">
                  <c:v>Grand Prix</c:v>
                </c:pt>
              </c:strCache>
            </c:strRef>
          </c:xVal>
          <c:yVal>
            <c:numRef>
              <c:f>Sheet1!$E$2:$E$5</c:f>
              <c:numCache>
                <c:formatCode>General</c:formatCode>
                <c:ptCount val="4"/>
                <c:pt idx="0">
                  <c:v>2443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873B-4EF3-915D-7041513DD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77287055"/>
        <c:axId val="1977991183"/>
      </c:scatterChart>
      <c:catAx>
        <c:axId val="1977321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717823"/>
        <c:crosses val="autoZero"/>
        <c:auto val="1"/>
        <c:lblAlgn val="ctr"/>
        <c:lblOffset val="100"/>
        <c:noMultiLvlLbl val="0"/>
      </c:catAx>
      <c:valAx>
        <c:axId val="1792717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321055"/>
        <c:crosses val="autoZero"/>
        <c:crossBetween val="between"/>
      </c:valAx>
      <c:valAx>
        <c:axId val="19779911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Days rented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7287055"/>
        <c:crosses val="max"/>
        <c:crossBetween val="midCat"/>
      </c:valAx>
      <c:valAx>
        <c:axId val="19772870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77991183"/>
        <c:crossBetween val="midCat"/>
      </c:valAx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2018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Pathfinder</c:v>
                </c:pt>
                <c:pt idx="1">
                  <c:v>F-Series</c:v>
                </c:pt>
                <c:pt idx="2">
                  <c:v>Mustang</c:v>
                </c:pt>
                <c:pt idx="3">
                  <c:v>Accord</c:v>
                </c:pt>
                <c:pt idx="4">
                  <c:v>Express 3500</c:v>
                </c:pt>
                <c:pt idx="5">
                  <c:v>Town Car</c:v>
                </c:pt>
                <c:pt idx="6">
                  <c:v>Sable</c:v>
                </c:pt>
                <c:pt idx="7">
                  <c:v>Ranger</c:v>
                </c:pt>
                <c:pt idx="8">
                  <c:v>Grand Marquis</c:v>
                </c:pt>
                <c:pt idx="9">
                  <c:v>Grand Prix</c:v>
                </c:pt>
              </c:strCache>
            </c:strRef>
          </c:cat>
          <c:val>
            <c:numRef>
              <c:f>Sheet1!$B$2:$B$11</c:f>
              <c:numCache>
                <c:formatCode>"$"#,##0.00_);[Red]\("$"#,##0.00\)</c:formatCode>
                <c:ptCount val="10"/>
                <c:pt idx="0">
                  <c:v>286772</c:v>
                </c:pt>
                <c:pt idx="1">
                  <c:v>305496</c:v>
                </c:pt>
                <c:pt idx="2">
                  <c:v>311909</c:v>
                </c:pt>
                <c:pt idx="3">
                  <c:v>340114</c:v>
                </c:pt>
                <c:pt idx="4">
                  <c:v>341660</c:v>
                </c:pt>
                <c:pt idx="5">
                  <c:v>331037</c:v>
                </c:pt>
                <c:pt idx="6">
                  <c:v>318374</c:v>
                </c:pt>
                <c:pt idx="7">
                  <c:v>374201</c:v>
                </c:pt>
                <c:pt idx="8">
                  <c:v>377994</c:v>
                </c:pt>
                <c:pt idx="9">
                  <c:v>388691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3D-4FE8-BCAA-F8BDD5B8B5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2018 Costs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Pathfinder</c:v>
                </c:pt>
                <c:pt idx="1">
                  <c:v>F-Series</c:v>
                </c:pt>
                <c:pt idx="2">
                  <c:v>Mustang</c:v>
                </c:pt>
                <c:pt idx="3">
                  <c:v>Accord</c:v>
                </c:pt>
                <c:pt idx="4">
                  <c:v>Express 3500</c:v>
                </c:pt>
                <c:pt idx="5">
                  <c:v>Town Car</c:v>
                </c:pt>
                <c:pt idx="6">
                  <c:v>Sable</c:v>
                </c:pt>
                <c:pt idx="7">
                  <c:v>Ranger</c:v>
                </c:pt>
                <c:pt idx="8">
                  <c:v>Grand Marquis</c:v>
                </c:pt>
                <c:pt idx="9">
                  <c:v>Grand Prix</c:v>
                </c:pt>
              </c:strCache>
            </c:strRef>
          </c:cat>
          <c:val>
            <c:numRef>
              <c:f>Sheet1!$C$2:$C$11</c:f>
              <c:numCache>
                <c:formatCode>"$"#,##0.00_);[Red]\("$"#,##0.00\)</c:formatCode>
                <c:ptCount val="10"/>
                <c:pt idx="0">
                  <c:v>132626.28</c:v>
                </c:pt>
                <c:pt idx="1">
                  <c:v>147411.12</c:v>
                </c:pt>
                <c:pt idx="2">
                  <c:v>150137.63999999998</c:v>
                </c:pt>
                <c:pt idx="3">
                  <c:v>176389.56</c:v>
                </c:pt>
                <c:pt idx="4">
                  <c:v>176433.96</c:v>
                </c:pt>
                <c:pt idx="5">
                  <c:v>164070.12</c:v>
                </c:pt>
                <c:pt idx="6">
                  <c:v>149261.76000000001</c:v>
                </c:pt>
                <c:pt idx="7">
                  <c:v>190856.52</c:v>
                </c:pt>
                <c:pt idx="8">
                  <c:v>194377.44000000003</c:v>
                </c:pt>
                <c:pt idx="9">
                  <c:v>184214.87999999998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3D-4FE8-BCAA-F8BDD5B8B50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2018 Profits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Sheet1!$A$2:$A$11</c:f>
              <c:strCache>
                <c:ptCount val="10"/>
                <c:pt idx="0">
                  <c:v>Pathfinder</c:v>
                </c:pt>
                <c:pt idx="1">
                  <c:v>F-Series</c:v>
                </c:pt>
                <c:pt idx="2">
                  <c:v>Mustang</c:v>
                </c:pt>
                <c:pt idx="3">
                  <c:v>Accord</c:v>
                </c:pt>
                <c:pt idx="4">
                  <c:v>Express 3500</c:v>
                </c:pt>
                <c:pt idx="5">
                  <c:v>Town Car</c:v>
                </c:pt>
                <c:pt idx="6">
                  <c:v>Sable</c:v>
                </c:pt>
                <c:pt idx="7">
                  <c:v>Ranger</c:v>
                </c:pt>
                <c:pt idx="8">
                  <c:v>Grand Marquis</c:v>
                </c:pt>
                <c:pt idx="9">
                  <c:v>Grand Prix</c:v>
                </c:pt>
              </c:strCache>
            </c:strRef>
          </c:cat>
          <c:val>
            <c:numRef>
              <c:f>Sheet1!$D$2:$D$11</c:f>
              <c:numCache>
                <c:formatCode>"$"#,##0.00_);[Red]\("$"#,##0.00\)</c:formatCode>
                <c:ptCount val="10"/>
                <c:pt idx="0">
                  <c:v>154145.72</c:v>
                </c:pt>
                <c:pt idx="1">
                  <c:v>158084.88</c:v>
                </c:pt>
                <c:pt idx="2">
                  <c:v>161771.36000000002</c:v>
                </c:pt>
                <c:pt idx="3">
                  <c:v>163724.44</c:v>
                </c:pt>
                <c:pt idx="4">
                  <c:v>165226.04</c:v>
                </c:pt>
                <c:pt idx="5">
                  <c:v>166966.88</c:v>
                </c:pt>
                <c:pt idx="6">
                  <c:v>169112.24</c:v>
                </c:pt>
                <c:pt idx="7">
                  <c:v>183344.48</c:v>
                </c:pt>
                <c:pt idx="8">
                  <c:v>183616.55999999997</c:v>
                </c:pt>
                <c:pt idx="9">
                  <c:v>204476.12000000002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3D-4FE8-BCAA-F8BDD5B8B5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44450175"/>
        <c:axId val="1978013231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Days Rented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Pathfinder</c:v>
                </c:pt>
                <c:pt idx="1">
                  <c:v>F-Series</c:v>
                </c:pt>
                <c:pt idx="2">
                  <c:v>Mustang</c:v>
                </c:pt>
                <c:pt idx="3">
                  <c:v>Accord</c:v>
                </c:pt>
                <c:pt idx="4">
                  <c:v>Express 3500</c:v>
                </c:pt>
                <c:pt idx="5">
                  <c:v>Town Car</c:v>
                </c:pt>
                <c:pt idx="6">
                  <c:v>Sable</c:v>
                </c:pt>
                <c:pt idx="7">
                  <c:v>Ranger</c:v>
                </c:pt>
                <c:pt idx="8">
                  <c:v>Grand Marquis</c:v>
                </c:pt>
                <c:pt idx="9">
                  <c:v>Grand Prix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1716</c:v>
                </c:pt>
                <c:pt idx="1">
                  <c:v>1890</c:v>
                </c:pt>
                <c:pt idx="2">
                  <c:v>1934</c:v>
                </c:pt>
                <c:pt idx="3">
                  <c:v>2093</c:v>
                </c:pt>
                <c:pt idx="4">
                  <c:v>2167</c:v>
                </c:pt>
                <c:pt idx="5">
                  <c:v>2043</c:v>
                </c:pt>
                <c:pt idx="6">
                  <c:v>1954</c:v>
                </c:pt>
                <c:pt idx="7">
                  <c:v>2369</c:v>
                </c:pt>
                <c:pt idx="8">
                  <c:v>2378</c:v>
                </c:pt>
                <c:pt idx="9">
                  <c:v>2443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03D-4FE8-BCAA-F8BDD5B8B5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2391887"/>
        <c:axId val="1792124431"/>
      </c:lineChart>
      <c:catAx>
        <c:axId val="1344450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8013231"/>
        <c:crosses val="autoZero"/>
        <c:auto val="1"/>
        <c:lblAlgn val="ctr"/>
        <c:lblOffset val="100"/>
        <c:noMultiLvlLbl val="0"/>
      </c:catAx>
      <c:valAx>
        <c:axId val="1978013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&quot;$&quot;#,##0.00_);[Red]\(&quot;$&quot;#,##0.0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4450175"/>
        <c:crosses val="autoZero"/>
        <c:crossBetween val="between"/>
      </c:valAx>
      <c:valAx>
        <c:axId val="1792124431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Days rented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391887"/>
        <c:crosses val="max"/>
        <c:crossBetween val="between"/>
      </c:valAx>
      <c:catAx>
        <c:axId val="197239188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92124431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3AF5C-03F4-4BE0-8F57-A8C45B2D8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0E1C3-8625-4062-BDBA-9533D89B1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1196E-BB22-4DBC-82EF-AF72E66FD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94DF6-26D4-411C-898D-AD2C07131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3136F-B3C4-482C-9111-BC051EBF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8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7555-9B57-4283-9CDD-2C96D5C7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BAE7-A069-4D76-A32C-157B60A5D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82A69-73FF-421A-913A-C5603F26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52DF7-A612-496A-8119-E7AD2105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8FC8D-31A7-41D0-A62B-E039DF13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2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DB18-69A9-42C2-A6CC-C073EABE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E21D6-36DA-4B49-A3E6-72321E085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ABA81-D7E3-4311-A6D7-AD794506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1FF06-6734-4892-AD88-778A9B2F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1CEB2-7AC6-4749-A532-D51881D7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5C1B-A52B-44E5-AB38-5E50379B2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3098F-2B6F-46CC-B122-717F2E235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3E106-39B0-40B7-B9AD-00460B819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BFDE-C45E-40BC-BFF5-F967676D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C41AD-11DF-4BDB-98C4-347029BD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606C9E-76AF-4A83-9079-93BE2CA5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42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75AA5-F0D0-405F-970F-56EE38337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A514A-60A3-46AD-A3FE-B5DB82EA2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2BE68-A44B-4410-9258-F28B6AFFD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D673E-A66D-4A23-9884-F44150E8B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CF77B-6323-47A1-BA0A-68B1410FA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D6630-B568-4D9D-B021-D06D0C82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27AFE2-DA9A-4B21-835E-F7E96B5E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7CC21C-54B4-4640-9650-00F82BD2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0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68754-50EC-4582-9F04-4D3FA0B0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9042D5-516D-4E0C-A92A-A6742DB23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856B8-4BB6-47D5-8269-95114B122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BD4C6-BEDD-47F9-8D0F-EB64A24B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0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0A8AA6-6139-4535-A35D-BB8D7BD3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7EAA0-0971-43EB-A30D-14B2916D3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30E0E-ED85-491E-AB1A-FB4E8EBB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5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6B32-E423-485F-969D-021ECA7D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96475-AAAA-48D8-83EB-09765D8B9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4B7B2-5F55-44C4-9C9F-FDB1B2019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0AFBA-C6AF-4924-B14A-F4F39D0D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3E57D-4A17-4AE8-801E-B122353E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6D9EE5-2BB8-44F9-92EE-EBA68D30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35728-C7DC-4754-BDC0-38F23D1E2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32362-F0ED-445E-8FC6-7D0681E91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04CFC-11C1-41DE-868B-9F39F32AC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BA4D5-B787-41D8-998A-2A7F3D9B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0F72C-99B7-46D8-9819-3D76EC95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E40E5-0771-4E0F-8D03-8086B67F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0C27-F5C6-4975-A914-585FD77C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0FC33-715C-48ED-BA10-3134A310B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6E384-4E2A-4698-8FF8-A882B043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259A-41B4-454E-BF4A-AF63E63D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2BFE1-9708-4955-BA0D-8DA308C3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4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64C06-E08C-4A73-97E8-38792AB0E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E6232-D535-4D35-B313-C85C290C3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D534D-DB06-46A8-94E8-DCBF6AB3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C947-153D-462E-8E23-5A245EBD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6403A-AF02-4E86-95CC-1223EAE7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5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D0528-545E-4346-9DBF-A0D54744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8782F-0C1E-43B4-ADD1-5529A21BE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65E4E-825B-491B-8D3F-2DA524736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01723-A881-430B-9862-62AD0466ED75}" type="datetimeFigureOut">
              <a:rPr lang="en-US" smtClean="0"/>
              <a:t>12/3/2020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20CB9-F0E2-40EE-9CCB-FAA100605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15D25-DF2D-4720-9402-24396036F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42641-6FDF-436C-A54E-8F789BAC9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4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29398BB-6F62-472B-88B2-8D942FEB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A6EF45-E8B6-4223-BCF1-2BDA5B83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19" b="12334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D367FDA-2141-45CD-BBF9-48670C11D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8194" y="1073777"/>
            <a:ext cx="5952405" cy="4412648"/>
          </a:xfrm>
          <a:custGeom>
            <a:avLst/>
            <a:gdLst>
              <a:gd name="connsiteX0" fmla="*/ 5087889 w 5952405"/>
              <a:gd name="connsiteY0" fmla="*/ 880798 h 4412648"/>
              <a:gd name="connsiteX1" fmla="*/ 5602872 w 5952405"/>
              <a:gd name="connsiteY1" fmla="*/ 880798 h 4412648"/>
              <a:gd name="connsiteX2" fmla="*/ 5682956 w 5952405"/>
              <a:gd name="connsiteY2" fmla="*/ 927340 h 4412648"/>
              <a:gd name="connsiteX3" fmla="*/ 5939892 w 5952405"/>
              <a:gd name="connsiteY3" fmla="*/ 1371716 h 4412648"/>
              <a:gd name="connsiteX4" fmla="*/ 5939892 w 5952405"/>
              <a:gd name="connsiteY4" fmla="*/ 1462586 h 4412648"/>
              <a:gd name="connsiteX5" fmla="*/ 5682956 w 5952405"/>
              <a:gd name="connsiteY5" fmla="*/ 1906962 h 4412648"/>
              <a:gd name="connsiteX6" fmla="*/ 5602872 w 5952405"/>
              <a:gd name="connsiteY6" fmla="*/ 1953505 h 4412648"/>
              <a:gd name="connsiteX7" fmla="*/ 5087889 w 5952405"/>
              <a:gd name="connsiteY7" fmla="*/ 1953505 h 4412648"/>
              <a:gd name="connsiteX8" fmla="*/ 5008916 w 5952405"/>
              <a:gd name="connsiteY8" fmla="*/ 1906962 h 4412648"/>
              <a:gd name="connsiteX9" fmla="*/ 4750868 w 5952405"/>
              <a:gd name="connsiteY9" fmla="*/ 1462586 h 4412648"/>
              <a:gd name="connsiteX10" fmla="*/ 4750868 w 5952405"/>
              <a:gd name="connsiteY10" fmla="*/ 1371716 h 4412648"/>
              <a:gd name="connsiteX11" fmla="*/ 5008916 w 5952405"/>
              <a:gd name="connsiteY11" fmla="*/ 927340 h 4412648"/>
              <a:gd name="connsiteX12" fmla="*/ 5087889 w 5952405"/>
              <a:gd name="connsiteY12" fmla="*/ 880798 h 4412648"/>
              <a:gd name="connsiteX13" fmla="*/ 1437823 w 5952405"/>
              <a:gd name="connsiteY13" fmla="*/ 0 h 4412648"/>
              <a:gd name="connsiteX14" fmla="*/ 3556238 w 5952405"/>
              <a:gd name="connsiteY14" fmla="*/ 0 h 4412648"/>
              <a:gd name="connsiteX15" fmla="*/ 3885668 w 5952405"/>
              <a:gd name="connsiteY15" fmla="*/ 191458 h 4412648"/>
              <a:gd name="connsiteX16" fmla="*/ 4942588 w 5952405"/>
              <a:gd name="connsiteY16" fmla="*/ 2019425 h 4412648"/>
              <a:gd name="connsiteX17" fmla="*/ 4942588 w 5952405"/>
              <a:gd name="connsiteY17" fmla="*/ 2393224 h 4412648"/>
              <a:gd name="connsiteX18" fmla="*/ 4550147 w 5952405"/>
              <a:gd name="connsiteY18" fmla="*/ 3071961 h 4412648"/>
              <a:gd name="connsiteX19" fmla="*/ 4549818 w 5952405"/>
              <a:gd name="connsiteY19" fmla="*/ 3072530 h 4412648"/>
              <a:gd name="connsiteX20" fmla="*/ 4539741 w 5952405"/>
              <a:gd name="connsiteY20" fmla="*/ 3072530 h 4412648"/>
              <a:gd name="connsiteX21" fmla="*/ 3588169 w 5952405"/>
              <a:gd name="connsiteY21" fmla="*/ 3072530 h 4412648"/>
              <a:gd name="connsiteX22" fmla="*/ 3432811 w 5952405"/>
              <a:gd name="connsiteY22" fmla="*/ 3158889 h 4412648"/>
              <a:gd name="connsiteX23" fmla="*/ 2889055 w 5952405"/>
              <a:gd name="connsiteY23" fmla="*/ 4089642 h 4412648"/>
              <a:gd name="connsiteX24" fmla="*/ 2889055 w 5952405"/>
              <a:gd name="connsiteY24" fmla="*/ 4268756 h 4412648"/>
              <a:gd name="connsiteX25" fmla="*/ 2957025 w 5952405"/>
              <a:gd name="connsiteY25" fmla="*/ 4385100 h 4412648"/>
              <a:gd name="connsiteX26" fmla="*/ 2973119 w 5952405"/>
              <a:gd name="connsiteY26" fmla="*/ 4412648 h 4412648"/>
              <a:gd name="connsiteX27" fmla="*/ 2913734 w 5952405"/>
              <a:gd name="connsiteY27" fmla="*/ 4412648 h 4412648"/>
              <a:gd name="connsiteX28" fmla="*/ 1437823 w 5952405"/>
              <a:gd name="connsiteY28" fmla="*/ 4412648 h 4412648"/>
              <a:gd name="connsiteX29" fmla="*/ 1112968 w 5952405"/>
              <a:gd name="connsiteY29" fmla="*/ 4221190 h 4412648"/>
              <a:gd name="connsiteX30" fmla="*/ 51474 w 5952405"/>
              <a:gd name="connsiteY30" fmla="*/ 2393224 h 4412648"/>
              <a:gd name="connsiteX31" fmla="*/ 51474 w 5952405"/>
              <a:gd name="connsiteY31" fmla="*/ 2019425 h 4412648"/>
              <a:gd name="connsiteX32" fmla="*/ 1112968 w 5952405"/>
              <a:gd name="connsiteY32" fmla="*/ 191458 h 4412648"/>
              <a:gd name="connsiteX33" fmla="*/ 1437823 w 5952405"/>
              <a:gd name="connsiteY33" fmla="*/ 0 h 441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5952405" h="4412648">
                <a:moveTo>
                  <a:pt x="5087889" y="880798"/>
                </a:moveTo>
                <a:cubicBezTo>
                  <a:pt x="5087889" y="880798"/>
                  <a:pt x="5087889" y="880798"/>
                  <a:pt x="5602872" y="880798"/>
                </a:cubicBezTo>
                <a:cubicBezTo>
                  <a:pt x="5636241" y="880798"/>
                  <a:pt x="5666272" y="898528"/>
                  <a:pt x="5682956" y="927340"/>
                </a:cubicBezTo>
                <a:cubicBezTo>
                  <a:pt x="5682956" y="927340"/>
                  <a:pt x="5682956" y="927340"/>
                  <a:pt x="5939892" y="1371716"/>
                </a:cubicBezTo>
                <a:cubicBezTo>
                  <a:pt x="5956576" y="1399421"/>
                  <a:pt x="5956576" y="1434882"/>
                  <a:pt x="5939892" y="1462586"/>
                </a:cubicBezTo>
                <a:cubicBezTo>
                  <a:pt x="5939892" y="1462586"/>
                  <a:pt x="5939892" y="1462586"/>
                  <a:pt x="5682956" y="1906962"/>
                </a:cubicBezTo>
                <a:cubicBezTo>
                  <a:pt x="5666272" y="1935775"/>
                  <a:pt x="5636241" y="1953505"/>
                  <a:pt x="5602872" y="1953505"/>
                </a:cubicBezTo>
                <a:cubicBezTo>
                  <a:pt x="5602872" y="1953505"/>
                  <a:pt x="5602872" y="1953505"/>
                  <a:pt x="5087889" y="1953505"/>
                </a:cubicBezTo>
                <a:cubicBezTo>
                  <a:pt x="5055632" y="1953505"/>
                  <a:pt x="5024489" y="1935775"/>
                  <a:pt x="5008916" y="1906962"/>
                </a:cubicBezTo>
                <a:cubicBezTo>
                  <a:pt x="5008916" y="1906962"/>
                  <a:pt x="5008916" y="1906962"/>
                  <a:pt x="4750868" y="1462586"/>
                </a:cubicBezTo>
                <a:cubicBezTo>
                  <a:pt x="4734184" y="1434882"/>
                  <a:pt x="4734184" y="1399421"/>
                  <a:pt x="4750868" y="1371716"/>
                </a:cubicBezTo>
                <a:cubicBezTo>
                  <a:pt x="4750868" y="1371716"/>
                  <a:pt x="4750868" y="1371716"/>
                  <a:pt x="5008916" y="927340"/>
                </a:cubicBezTo>
                <a:cubicBezTo>
                  <a:pt x="5024489" y="898528"/>
                  <a:pt x="5055632" y="880798"/>
                  <a:pt x="5087889" y="880798"/>
                </a:cubicBezTo>
                <a:close/>
                <a:moveTo>
                  <a:pt x="1437823" y="0"/>
                </a:moveTo>
                <a:cubicBezTo>
                  <a:pt x="1437823" y="0"/>
                  <a:pt x="1437823" y="0"/>
                  <a:pt x="3556238" y="0"/>
                </a:cubicBezTo>
                <a:cubicBezTo>
                  <a:pt x="3693500" y="0"/>
                  <a:pt x="3817038" y="72936"/>
                  <a:pt x="3885668" y="191458"/>
                </a:cubicBezTo>
                <a:cubicBezTo>
                  <a:pt x="3885668" y="191458"/>
                  <a:pt x="3885668" y="191458"/>
                  <a:pt x="4942588" y="2019425"/>
                </a:cubicBezTo>
                <a:cubicBezTo>
                  <a:pt x="5011220" y="2133388"/>
                  <a:pt x="5011220" y="2279261"/>
                  <a:pt x="4942588" y="2393224"/>
                </a:cubicBezTo>
                <a:cubicBezTo>
                  <a:pt x="4942588" y="2393224"/>
                  <a:pt x="4942588" y="2393224"/>
                  <a:pt x="4550147" y="3071961"/>
                </a:cubicBezTo>
                <a:lnTo>
                  <a:pt x="4549818" y="3072530"/>
                </a:lnTo>
                <a:lnTo>
                  <a:pt x="4539741" y="3072530"/>
                </a:lnTo>
                <a:cubicBezTo>
                  <a:pt x="4403802" y="3072530"/>
                  <a:pt x="4131924" y="3072530"/>
                  <a:pt x="3588169" y="3072530"/>
                </a:cubicBezTo>
                <a:cubicBezTo>
                  <a:pt x="3529910" y="3072530"/>
                  <a:pt x="3458704" y="3110912"/>
                  <a:pt x="3432811" y="3158889"/>
                </a:cubicBezTo>
                <a:cubicBezTo>
                  <a:pt x="3432811" y="3158889"/>
                  <a:pt x="3432811" y="3158889"/>
                  <a:pt x="2889055" y="4089642"/>
                </a:cubicBezTo>
                <a:cubicBezTo>
                  <a:pt x="2859925" y="4140817"/>
                  <a:pt x="2859925" y="4217580"/>
                  <a:pt x="2889055" y="4268756"/>
                </a:cubicBezTo>
                <a:cubicBezTo>
                  <a:pt x="2889055" y="4268756"/>
                  <a:pt x="2889055" y="4268756"/>
                  <a:pt x="2957025" y="4385100"/>
                </a:cubicBezTo>
                <a:lnTo>
                  <a:pt x="2973119" y="4412648"/>
                </a:lnTo>
                <a:lnTo>
                  <a:pt x="2913734" y="4412648"/>
                </a:lnTo>
                <a:cubicBezTo>
                  <a:pt x="2599952" y="4412648"/>
                  <a:pt x="2132928" y="4412648"/>
                  <a:pt x="1437823" y="4412648"/>
                </a:cubicBezTo>
                <a:cubicBezTo>
                  <a:pt x="1305136" y="4412648"/>
                  <a:pt x="1177025" y="4339712"/>
                  <a:pt x="1112968" y="4221190"/>
                </a:cubicBezTo>
                <a:cubicBezTo>
                  <a:pt x="1112968" y="4221190"/>
                  <a:pt x="1112968" y="4221190"/>
                  <a:pt x="51474" y="2393224"/>
                </a:cubicBezTo>
                <a:cubicBezTo>
                  <a:pt x="-17158" y="2279261"/>
                  <a:pt x="-17158" y="2133388"/>
                  <a:pt x="51474" y="2019425"/>
                </a:cubicBezTo>
                <a:cubicBezTo>
                  <a:pt x="51474" y="2019425"/>
                  <a:pt x="51474" y="2019425"/>
                  <a:pt x="1112968" y="191458"/>
                </a:cubicBezTo>
                <a:cubicBezTo>
                  <a:pt x="1177025" y="72936"/>
                  <a:pt x="1305136" y="0"/>
                  <a:pt x="14378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9E7A3B0-8177-473E-B1D0-59D0661DC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5401" y="4146804"/>
            <a:ext cx="2527006" cy="2213337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solidFill>
            <a:srgbClr val="FFFFFF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8C0D1-9CD5-4698-B23F-483911590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6754" y="5009355"/>
            <a:ext cx="2184299" cy="488233"/>
          </a:xfrm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2020 &amp; Beyond!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07B354-1E17-4942-9F35-18968686F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160" y="1531711"/>
            <a:ext cx="4254804" cy="3505781"/>
          </a:xfrm>
          <a:prstGeom prst="hexagon">
            <a:avLst>
              <a:gd name="adj" fmla="val 30057"/>
              <a:gd name="vf" fmla="val 115470"/>
            </a:avLst>
          </a:prstGeom>
        </p:spPr>
      </p:pic>
    </p:spTree>
    <p:extLst>
      <p:ext uri="{BB962C8B-B14F-4D97-AF65-F5344CB8AC3E}">
        <p14:creationId xmlns:p14="http://schemas.microsoft.com/office/powerpoint/2010/main" val="3634259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6EF45-E8B6-4223-BCF1-2BDA5B83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19" b="1233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A3235-2579-4F35-B930-1248D27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8557"/>
            <a:ext cx="4876781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2018 SUMMARY POINTS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8C0D1-9CD5-4698-B23F-483911590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2666"/>
            <a:ext cx="5181600" cy="3203734"/>
          </a:xfrm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Total Inventory: 4,000 vehicles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Total 2018 Revenue: $63,014,097.00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Total 2018 Costs: $32,124,141.24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Total 2018 Profit: $30,889,955.76 </a:t>
            </a:r>
          </a:p>
        </p:txBody>
      </p:sp>
    </p:spTree>
    <p:extLst>
      <p:ext uri="{BB962C8B-B14F-4D97-AF65-F5344CB8AC3E}">
        <p14:creationId xmlns:p14="http://schemas.microsoft.com/office/powerpoint/2010/main" val="260614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6EF45-E8B6-4223-BCF1-2BDA5B83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19" b="12334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A3235-2579-4F35-B930-1248D27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74" y="487050"/>
            <a:ext cx="4962505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Points of Interest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8C0D1-9CD5-4698-B23F-483911590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9474" y="2299652"/>
            <a:ext cx="4962506" cy="4558338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8.9% = 36.34%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4 Weakest Links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Star of the Show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King of One Thing</a:t>
            </a:r>
          </a:p>
          <a:p>
            <a:pPr>
              <a:lnSpc>
                <a:spcPct val="150000"/>
              </a:lnSpc>
            </a:pPr>
            <a:endParaRPr lang="en-US" dirty="0">
              <a:ln>
                <a:solidFill>
                  <a:srgbClr val="010A26"/>
                </a:solidFill>
              </a:ln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77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6EF45-E8B6-4223-BCF1-2BDA5B83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19" b="12334"/>
          <a:stretch/>
        </p:blipFill>
        <p:spPr>
          <a:xfrm>
            <a:off x="20" y="0"/>
            <a:ext cx="12191980" cy="685799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A3235-2579-4F35-B930-1248D27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95" y="0"/>
            <a:ext cx="4962505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8.9% = 36.34%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F9293C7-613A-4500-97AD-8F53C96B5A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002776"/>
              </p:ext>
            </p:extLst>
          </p:nvPr>
        </p:nvGraphicFramePr>
        <p:xfrm>
          <a:off x="0" y="1812603"/>
          <a:ext cx="7564244" cy="5045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6934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6EF45-E8B6-4223-BCF1-2BDA5B83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19" b="12334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A3235-2579-4F35-B930-1248D27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027" y="540075"/>
            <a:ext cx="3705205" cy="6654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4 Weakest Links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A1A05A2-8C10-417C-8F29-7ED41AAA1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3280" y="1893886"/>
            <a:ext cx="4838700" cy="20034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500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j-cs"/>
              </a:rPr>
              <a:t>GOODBYE!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500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j-cs"/>
              </a:rPr>
              <a:t>Revenue     , Costs        ,  Profits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500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j-cs"/>
              </a:rPr>
              <a:t>Reduce inventory &amp; Liability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DF2577CF-2719-4938-B375-AE972EE6A00B}"/>
              </a:ext>
            </a:extLst>
          </p:cNvPr>
          <p:cNvSpPr/>
          <p:nvPr/>
        </p:nvSpPr>
        <p:spPr>
          <a:xfrm>
            <a:off x="8848725" y="2681285"/>
            <a:ext cx="228600" cy="25717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DC8044D-ECAA-4607-8EF1-D44D9694AF06}"/>
              </a:ext>
            </a:extLst>
          </p:cNvPr>
          <p:cNvSpPr/>
          <p:nvPr/>
        </p:nvSpPr>
        <p:spPr>
          <a:xfrm>
            <a:off x="10034584" y="2638422"/>
            <a:ext cx="333375" cy="342899"/>
          </a:xfrm>
          <a:prstGeom prst="downArrow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1C1E3F0-580A-49C5-8D19-3118EDD59F21}"/>
              </a:ext>
            </a:extLst>
          </p:cNvPr>
          <p:cNvSpPr/>
          <p:nvPr/>
        </p:nvSpPr>
        <p:spPr>
          <a:xfrm rot="10800000">
            <a:off x="11468098" y="2605085"/>
            <a:ext cx="333375" cy="342899"/>
          </a:xfrm>
          <a:prstGeom prst="downArrow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DCB54110-F3E9-4562-8014-E2C43B95D5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635629"/>
              </p:ext>
            </p:extLst>
          </p:nvPr>
        </p:nvGraphicFramePr>
        <p:xfrm>
          <a:off x="0" y="1414992"/>
          <a:ext cx="7017496" cy="544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1681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6EF45-E8B6-4223-BCF1-2BDA5B83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19" b="12334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A3235-2579-4F35-B930-1248D27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74" y="487050"/>
            <a:ext cx="4962505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Star of the Show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8C0D1-9CD5-4698-B23F-483911590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9474" y="2299652"/>
            <a:ext cx="4962506" cy="4558338"/>
          </a:xfrm>
        </p:spPr>
        <p:txBody>
          <a:bodyPr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PONTIAC GRAND PRIX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Highest individual revenue, usage rate, &amp; profit.</a:t>
            </a:r>
          </a:p>
          <a:p>
            <a:pPr>
              <a:lnSpc>
                <a:spcPct val="150000"/>
              </a:lnSpc>
            </a:pPr>
            <a:endParaRPr lang="en-US" dirty="0">
              <a:ln>
                <a:solidFill>
                  <a:srgbClr val="010A26"/>
                </a:solidFill>
              </a:ln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3315733-9986-4FE4-99EF-CD7419CF6D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4801417"/>
              </p:ext>
            </p:extLst>
          </p:nvPr>
        </p:nvGraphicFramePr>
        <p:xfrm>
          <a:off x="0" y="1439323"/>
          <a:ext cx="7229453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5219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A6EF45-E8B6-4223-BCF1-2BDA5B8353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19" b="12334"/>
          <a:stretch/>
        </p:blipFill>
        <p:spPr>
          <a:xfrm flipH="1"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A3235-2579-4F35-B930-1248D27A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9474" y="487050"/>
            <a:ext cx="4962505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n>
                  <a:solidFill>
                    <a:srgbClr val="000D29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King of One Thing!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8C0D1-9CD5-4698-B23F-483911590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0" y="2299652"/>
            <a:ext cx="4063980" cy="4558338"/>
          </a:xfrm>
        </p:spPr>
        <p:txBody>
          <a:bodyPr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ln>
                  <a:solidFill>
                    <a:srgbClr val="010A26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Top 10 both Brands &amp; Vehicles</a:t>
            </a:r>
          </a:p>
          <a:p>
            <a:pPr>
              <a:lnSpc>
                <a:spcPct val="150000"/>
              </a:lnSpc>
            </a:pPr>
            <a:endParaRPr lang="en-US" dirty="0">
              <a:ln>
                <a:solidFill>
                  <a:srgbClr val="010A26"/>
                </a:solidFill>
              </a:ln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D850CD9-70B3-429C-AA4B-1F9765C029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8151905"/>
              </p:ext>
            </p:extLst>
          </p:nvPr>
        </p:nvGraphicFramePr>
        <p:xfrm>
          <a:off x="0" y="1439323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2971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109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Impact</vt:lpstr>
      <vt:lpstr>Office Theme</vt:lpstr>
      <vt:lpstr>PowerPoint Presentation</vt:lpstr>
      <vt:lpstr>2018 SUMMARY POINTS</vt:lpstr>
      <vt:lpstr>Points of Interest</vt:lpstr>
      <vt:lpstr>8.9% = 36.34%</vt:lpstr>
      <vt:lpstr>4 Weakest Links</vt:lpstr>
      <vt:lpstr>Star of the Show</vt:lpstr>
      <vt:lpstr>King of One Thing!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TreVon Encalade</dc:creator>
  <cp:lastModifiedBy>TreVon Encalade</cp:lastModifiedBy>
  <cp:revision>19</cp:revision>
  <dcterms:created xsi:type="dcterms:W3CDTF">2020-11-30T22:17:22Z</dcterms:created>
  <dcterms:modified xsi:type="dcterms:W3CDTF">2020-12-04T01:16:35Z</dcterms:modified>
</cp:coreProperties>
</file>